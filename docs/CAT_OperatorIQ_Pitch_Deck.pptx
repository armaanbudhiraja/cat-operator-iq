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457200" cy="54864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F5F7"/>
                </a:solidFill>
                <a:latin typeface="Inter"/>
              </a:defRPr>
            </a:pPr>
            <a:r>
              <a:t>CAT OperatorIQ</a:t>
            </a:r>
          </a:p>
          <a:p>
            <a:pPr>
              <a:spcBef>
                <a:spcPts val="1200"/>
              </a:spcBef>
              <a:defRPr sz="1800">
                <a:solidFill>
                  <a:srgbClr val="FFCD00"/>
                </a:solidFill>
                <a:latin typeface="Inter"/>
              </a:defRPr>
            </a:pPr>
            <a:r>
              <a:t>"Your intelligent companion for safer and smarter machine operations."</a:t>
            </a:r>
          </a:p>
          <a:p>
            <a:pPr>
              <a:spcBef>
                <a:spcPts val="1600"/>
              </a:spcBef>
              <a:defRPr sz="1200">
                <a:solidFill>
                  <a:srgbClr val="8C93A0"/>
                </a:solidFill>
                <a:latin typeface="Inter"/>
              </a:defRPr>
            </a:pPr>
            <a:r>
              <a:t>Real-time in-cab assistance cockpit • 360° Safety Radar • Explainable Risk Scoring • ML Task Forecasting • Offline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413455" cy="438912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737360"/>
            <a:ext cx="286481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EXC001 • CAT 336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INTELLIGENT COCKPIT ACTIVE</a:t>
            </a:r>
          </a:p>
          <a:p>
            <a:pPr>
              <a:spcBef>
                <a:spcPts val="1400"/>
              </a:spcBef>
              <a:defRPr sz="3600" b="1">
                <a:solidFill>
                  <a:srgbClr val="F5F5F7"/>
                </a:solidFill>
                <a:latin typeface="Inter"/>
              </a:defRPr>
            </a:pPr>
            <a:r>
              <a:t>92%</a:t>
            </a:r>
          </a:p>
          <a:p>
            <a:pPr>
              <a:defRPr sz="950">
                <a:solidFill>
                  <a:srgbClr val="8C93A0"/>
                </a:solidFill>
                <a:latin typeface="Inter"/>
              </a:defRPr>
            </a:pPr>
            <a:r>
              <a:t>Machine Health Index</a:t>
            </a:r>
          </a:p>
          <a:p>
            <a:pPr>
              <a:spcBef>
                <a:spcPts val="2000"/>
              </a:spcBef>
              <a:defRPr sz="900">
                <a:solidFill>
                  <a:srgbClr val="8C93A0"/>
                </a:solidFill>
                <a:latin typeface="Inter"/>
              </a:defRPr>
            </a:pPr>
            <a:r>
              <a:t>360° RADAR: NOMINAL</a:t>
            </a:r>
            <a:br/>
            <a:r>
              <a:t>CAN-BUS: 1,850 RPM</a:t>
            </a:r>
            <a:br/>
            <a:r>
              <a:t>TASK: EARTH EXCAVATION</a:t>
            </a:r>
            <a:br/>
            <a:r>
              <a:t>AI ASSISTANT: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06C"/>
                </a:solidFill>
                <a:latin typeface="Inter"/>
              </a:defRPr>
            </a:pPr>
            <a:r>
              <a:t>Hackathon Pitch  |  Caterpillar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01 /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The machine is connected. The operator still needs help.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1460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057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BLIND SPOTS</a:t>
            </a:r>
          </a:p>
          <a:p>
            <a:pPr>
              <a:spcBef>
                <a:spcPts val="8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Excavator swing radius and rear zones obstruct line of sight.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9233" y="1691640"/>
            <a:ext cx="251460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7833" y="1874519"/>
            <a:ext cx="2057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GROUND WORKERS</a:t>
            </a:r>
          </a:p>
          <a:p>
            <a:pPr>
              <a:spcBef>
                <a:spcPts val="8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Grade checkers &amp; spotters work inside dangerous machine perimeters.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6947" y="1691640"/>
            <a:ext cx="251460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5547" y="1874519"/>
            <a:ext cx="2057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MECHANICAL STRAIN</a:t>
            </a:r>
          </a:p>
          <a:p>
            <a:pPr>
              <a:spcBef>
                <a:spcPts val="8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Hydraulic cavitation, excessive idle, and thermal buildup go unnoticed.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4660" y="1691640"/>
            <a:ext cx="251460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3260" y="1874519"/>
            <a:ext cx="2057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04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TIGHT SCHEDULES</a:t>
            </a:r>
          </a:p>
          <a:p>
            <a:pPr>
              <a:spcBef>
                <a:spcPts val="8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High-pressure cycle times lead to fatigue and rushed movement.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51960"/>
            <a:ext cx="10728655" cy="17373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99971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C93A0"/>
                </a:solidFill>
                <a:latin typeface="Inter"/>
              </a:defRPr>
            </a:pPr>
            <a:r>
              <a:t>TRADITIONAL TELEMATICS</a:t>
            </a:r>
          </a:p>
          <a:p>
            <a:pPr>
              <a:spcBef>
                <a:spcPts val="300"/>
              </a:spcBef>
              <a:defRPr sz="1300">
                <a:solidFill>
                  <a:srgbClr val="F5F5F7"/>
                </a:solidFill>
                <a:latin typeface="Inter"/>
              </a:defRPr>
            </a:pPr>
            <a:r>
              <a:t>Tells the fleet manager what happened hours after failure occurs.</a:t>
            </a:r>
          </a:p>
          <a:p>
            <a:pPr>
              <a:spcBef>
                <a:spcPts val="1000"/>
              </a:spcBef>
              <a:defRPr sz="1000" b="1">
                <a:solidFill>
                  <a:srgbClr val="FFCD00"/>
                </a:solidFill>
                <a:latin typeface="Inter"/>
              </a:defRPr>
            </a:pPr>
            <a:r>
              <a:t>CAT OPERATORIQ</a:t>
            </a:r>
          </a:p>
          <a:p>
            <a:pPr>
              <a:spcBef>
                <a:spcPts val="3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Helps the operator understand what is happening right now inside the cab.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02 /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Meet CAT OperatorIQ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30368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6817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CD00"/>
                </a:solidFill>
                <a:latin typeface="Inter"/>
              </a:defRPr>
            </a:pPr>
            <a:r>
              <a:t>01  •  REAL-TIME WORKER PROXIMITY</a:t>
            </a:r>
          </a:p>
          <a:p>
            <a:pPr>
              <a:spcBef>
                <a:spcPts val="4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360° Safety Radar</a:t>
            </a:r>
          </a:p>
          <a:p>
            <a:pPr>
              <a:spcBef>
                <a:spcPts val="6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Dynamic 3-zone exclusion boundary (&lt;3m, 3–6m, &gt;6m) tracking ground personnel around swing perimeters.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9807" y="1691640"/>
            <a:ext cx="5230368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4127" y="1874520"/>
            <a:ext cx="46817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CD00"/>
                </a:solidFill>
                <a:latin typeface="Inter"/>
              </a:defRPr>
            </a:pPr>
            <a:r>
              <a:t>02  •  EXPLAINABLE 0–100 RISK INDEX</a:t>
            </a:r>
          </a:p>
          <a:p>
            <a:pPr>
              <a:spcBef>
                <a:spcPts val="4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Multi-Rule Safety Engine</a:t>
            </a:r>
          </a:p>
          <a:p>
            <a:pPr>
              <a:spcBef>
                <a:spcPts val="6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Evaluates 8 simultaneous mechanical and proximity safety rules to generate transparent, verifiable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67328"/>
            <a:ext cx="5230368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50208"/>
            <a:ext cx="46817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CD00"/>
                </a:solidFill>
                <a:latin typeface="Inter"/>
              </a:defRPr>
            </a:pPr>
            <a:r>
              <a:t>03  •  ETA + 90% CONFIDENCE INTERVAL</a:t>
            </a:r>
          </a:p>
          <a:p>
            <a:pPr>
              <a:spcBef>
                <a:spcPts val="4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ML Task Prediction</a:t>
            </a:r>
          </a:p>
          <a:p>
            <a:pPr>
              <a:spcBef>
                <a:spcPts val="6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Gradient Boosting model forecasting cycle times with contributing site, weather, and operator factors.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9807" y="3767328"/>
            <a:ext cx="5230368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4127" y="3950208"/>
            <a:ext cx="468172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CD00"/>
                </a:solidFill>
                <a:latin typeface="Inter"/>
              </a:defRPr>
            </a:pPr>
            <a:r>
              <a:t>04  •  OFFLINE-READY IN-CAB GUIDANCE</a:t>
            </a:r>
          </a:p>
          <a:p>
            <a:pPr>
              <a:spcBef>
                <a:spcPts val="4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AI Operator Assistant</a:t>
            </a:r>
          </a:p>
          <a:p>
            <a:pPr>
              <a:spcBef>
                <a:spcPts val="6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Grounded query assistant delivering immediate machine evidence and operating manual citations.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70448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CD00"/>
                </a:solidFill>
                <a:latin typeface="Inter"/>
              </a:defRPr>
            </a:pPr>
            <a:r>
              <a:t>ASSISTANCE, NOT CONTROL  —  OperatorIQ never overrides machine controls. It empowers professional operator judgment.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03 /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From machine signals → actionable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420624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788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D00"/>
                </a:solidFill>
                <a:latin typeface="Inter"/>
              </a:defRPr>
            </a:pPr>
            <a:r>
              <a:t>STAGE 01</a:t>
            </a:r>
          </a:p>
          <a:p>
            <a:pPr>
              <a:spcBef>
                <a:spcPts val="6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MACHINE &amp; SITE DATA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CAN-Bus Telemetry (RPM, Temp, Oil, Vibration)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Task Context (Cycles, Load, Priority)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Operator Profile &amp; Historical Skill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Environment &amp; Live Weather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91640"/>
            <a:ext cx="3337560" cy="420624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1920240"/>
            <a:ext cx="2788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D00"/>
                </a:solidFill>
                <a:latin typeface="Inter"/>
              </a:defRPr>
            </a:pPr>
            <a:r>
              <a:t>STAGE 02</a:t>
            </a:r>
          </a:p>
          <a:p>
            <a:pPr>
              <a:spcBef>
                <a:spcPts val="6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OPERATORIQ INTELLIGENCE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Rule Engine: 8-Factor 0–100 Risk Score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ML Pipeline: Gradient Boosting ETA Regressor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Anomaly Detection: Unsupervised Isolation Forest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Offline Assistant: Grounded RAG + Manual Guides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91640"/>
            <a:ext cx="3337560" cy="420624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20240"/>
            <a:ext cx="2788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D00"/>
                </a:solidFill>
                <a:latin typeface="Inter"/>
              </a:defRPr>
            </a:pPr>
            <a:r>
              <a:t>STAGE 03</a:t>
            </a:r>
          </a:p>
          <a:p>
            <a:pPr>
              <a:spcBef>
                <a:spcPts val="6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ACTIONABLE OUTPUT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In-Cab HUD Alerts &amp; Audio-Visual Warning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Dynamic Task ETA &amp; Confidence Bounds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Anti-Idling &amp; Maintenance Recommendations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Shift Audit Logs &amp; Fleet Supervisor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D00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D00"/>
                </a:solidFill>
                <a:latin typeface="Inter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04 / DATA &amp; ML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Built on data. Designed for explainability.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14600" cy="15544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CD00"/>
                </a:solidFill>
                <a:latin typeface="Inter"/>
              </a:defRPr>
            </a:pPr>
            <a:r>
              <a:t>10,000</a:t>
            </a:r>
          </a:p>
          <a:p>
            <a:pPr>
              <a:defRPr sz="1050" b="1">
                <a:solidFill>
                  <a:srgbClr val="F5F5F7"/>
                </a:solidFill>
                <a:latin typeface="Inter"/>
              </a:defRPr>
            </a:pPr>
            <a:r>
              <a:t>Synthetic Telemetry Records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Engine, hydraulics, vibration, idle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9233" y="1691640"/>
            <a:ext cx="2514600" cy="15544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7833" y="1783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CD00"/>
                </a:solidFill>
                <a:latin typeface="Inter"/>
              </a:defRPr>
            </a:pPr>
            <a:r>
              <a:t>2,000</a:t>
            </a:r>
          </a:p>
          <a:p>
            <a:pPr>
              <a:defRPr sz="1050" b="1">
                <a:solidFill>
                  <a:srgbClr val="F5F5F7"/>
                </a:solidFill>
                <a:latin typeface="Inter"/>
              </a:defRPr>
            </a:pPr>
            <a:r>
              <a:t>Task Records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Cycles, payload, site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6947" y="1691640"/>
            <a:ext cx="2514600" cy="15544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5547" y="1783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CD00"/>
                </a:solidFill>
                <a:latin typeface="Inter"/>
              </a:defRPr>
            </a:pPr>
            <a:r>
              <a:t>500</a:t>
            </a:r>
          </a:p>
          <a:p>
            <a:pPr>
              <a:defRPr sz="1050" b="1">
                <a:solidFill>
                  <a:srgbClr val="F5F5F7"/>
                </a:solidFill>
                <a:latin typeface="Inter"/>
              </a:defRPr>
            </a:pPr>
            <a:r>
              <a:t>Safety Events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Proximity, fatigue, seatbelt breaches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4660" y="1691640"/>
            <a:ext cx="2514600" cy="15544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3260" y="1783080"/>
            <a:ext cx="2057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CD00"/>
                </a:solidFill>
                <a:latin typeface="Inter"/>
              </a:defRPr>
            </a:pPr>
            <a:r>
              <a:t>300</a:t>
            </a:r>
          </a:p>
          <a:p>
            <a:pPr>
              <a:defRPr sz="1050" b="1">
                <a:solidFill>
                  <a:srgbClr val="F5F5F7"/>
                </a:solidFill>
                <a:latin typeface="Inter"/>
              </a:defRPr>
            </a:pPr>
            <a:r>
              <a:t>Incident Records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Resolved logs &amp; coordinates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5230368" cy="2468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468172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D00"/>
                </a:solidFill>
                <a:latin typeface="Inter"/>
              </a:defRPr>
            </a:pPr>
            <a:r>
              <a:t>UNSUPERVISED ANOMALY DETECTION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Inter"/>
              </a:defRPr>
            </a:pPr>
            <a:r>
              <a:t>Isolation Forest Pipeline</a:t>
            </a:r>
          </a:p>
          <a:p>
            <a:pPr>
              <a:spcBef>
                <a:spcPts val="8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• Identifies multi-dimensional telemetry degradation</a:t>
            </a:r>
            <a:br/>
            <a:r>
              <a:t>• Evaluates vibration, thermal spikes, and excessive idle</a:t>
            </a:r>
            <a:br/>
            <a:r>
              <a:t>• Grounded baseline comparison against machine class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9807" y="3474720"/>
            <a:ext cx="5230368" cy="2468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4127" y="3657600"/>
            <a:ext cx="468172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D00"/>
                </a:solidFill>
                <a:latin typeface="Inter"/>
              </a:defRPr>
            </a:pPr>
            <a:r>
              <a:t>SUPERVISED DURATION REGRESSION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Inter"/>
              </a:defRPr>
            </a:pPr>
            <a:r>
              <a:t>Gradient Boosting Regressor</a:t>
            </a:r>
          </a:p>
          <a:p>
            <a:pPr>
              <a:spcBef>
                <a:spcPts val="1000"/>
              </a:spcBef>
              <a:defRPr sz="1800" b="1">
                <a:solidFill>
                  <a:srgbClr val="FFCD00"/>
                </a:solidFill>
                <a:latin typeface="Inter"/>
              </a:defRPr>
            </a:pPr>
            <a:r>
              <a:t>R² = 0.964    •    MAE = 4.13 min</a:t>
            </a:r>
          </a:p>
          <a:p>
            <a:pPr>
              <a:spcBef>
                <a:spcPts val="600"/>
              </a:spcBef>
              <a:defRPr sz="950">
                <a:solidFill>
                  <a:srgbClr val="8C93A0"/>
                </a:solidFill>
                <a:latin typeface="Inter"/>
              </a:defRPr>
            </a:pPr>
            <a:r>
              <a:t>Deterministic synthetic dataset • seed 42 • Non-linear wear curves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05 / PERIMETER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See the hazard before it becomes an incident.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94360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53949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D00"/>
                </a:solidFill>
                <a:latin typeface="Inter"/>
              </a:defRPr>
            </a:pPr>
            <a:r>
              <a:t>360° LIVE EXCLUSION RADAR</a:t>
            </a:r>
          </a:p>
          <a:p>
            <a:pPr>
              <a:spcBef>
                <a:spcPts val="800"/>
              </a:spcBef>
              <a:defRPr sz="2000" b="1">
                <a:solidFill>
                  <a:srgbClr val="EF4444"/>
                </a:solidFill>
                <a:latin typeface="Inter"/>
              </a:defRPr>
            </a:pPr>
            <a:r>
              <a:t>HAZARD DETECTED: WORKER C</a:t>
            </a:r>
          </a:p>
          <a:p>
            <a:pPr>
              <a:spcBef>
                <a:spcPts val="400"/>
              </a:spcBef>
              <a:defRPr sz="1100">
                <a:solidFill>
                  <a:srgbClr val="F5F5F7"/>
                </a:solidFill>
                <a:latin typeface="Inter"/>
              </a:defRPr>
            </a:pPr>
            <a:r>
              <a:t>Distance: 2.1 m  •  Bearing: 118° SE  •  Zone: Critical (&lt;3m)</a:t>
            </a:r>
          </a:p>
          <a:p>
            <a:br/>
            <a:pPr>
              <a:spcBef>
                <a:spcPts val="18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[CRITICAL ZONE: &lt; 3.0 m]  →  IMMEDIATE HYDRAULIC SWING ALERT</a:t>
            </a:r>
            <a:br/>
            <a:r>
              <a:t>[WARNING ZONE:  3.0 – 6.0 m] →  AUDIO CHIME &amp; OPERATOR HUD BADGE</a:t>
            </a:r>
            <a:br/>
            <a:r>
              <a:t>[SAFE ZONE:     &gt; 6.0 m]     →  NOMINAL PERIMETER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691640"/>
            <a:ext cx="4510735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920240"/>
            <a:ext cx="396209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Inter"/>
              </a:defRPr>
            </a:pPr>
            <a:r>
              <a:t>CRITICAL ALERT</a:t>
            </a:r>
          </a:p>
          <a:p>
            <a:pPr>
              <a:spcBef>
                <a:spcPts val="600"/>
              </a:spcBef>
              <a:defRPr sz="4400" b="1">
                <a:solidFill>
                  <a:srgbClr val="F5F5F7"/>
                </a:solidFill>
                <a:latin typeface="Inter"/>
              </a:defRPr>
            </a:pPr>
            <a:r>
              <a:t>88 / 100</a:t>
            </a:r>
          </a:p>
          <a:p>
            <a:pPr>
              <a:defRPr sz="1000">
                <a:solidFill>
                  <a:srgbClr val="8C93A0"/>
                </a:solidFill>
                <a:latin typeface="Inter"/>
              </a:defRPr>
            </a:pPr>
            <a:r>
              <a:t>Composite Risk Index</a:t>
            </a:r>
          </a:p>
          <a:p>
            <a:pPr>
              <a:spcBef>
                <a:spcPts val="1800"/>
              </a:spcBef>
              <a:defRPr sz="1200" b="1">
                <a:solidFill>
                  <a:srgbClr val="F5F5F7"/>
                </a:solidFill>
                <a:latin typeface="Inter"/>
              </a:defRPr>
            </a:pPr>
            <a:r>
              <a:t>Ground worker detected inside the critical proximity zone (&lt; 3m).</a:t>
            </a:r>
          </a:p>
          <a:p>
            <a:pPr>
              <a:spcBef>
                <a:spcPts val="12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Recommended Next Step:</a:t>
            </a:r>
            <a:br/>
            <a:r>
              <a:t>Pause excavator boom and swing motion immediately. Establish direct eye contact with ground worker before resuming.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06 / TRANSPARENT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Every risk score has a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0136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Seatbelt Compliance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Status: Fastened (+0) or Unfastened (+35)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Worker Proximity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Distance &lt;3m (+45), 3-6m (+20), &gt;6m (+0)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9476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0448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Operator Fatigue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Fatigue index &gt;= 0.70 adds up to +30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Engine Temperature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Overheating above 98°C adds +25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79" y="169164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80136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Machine Vibration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Spikes &gt;2.4 mm/s indicate cavitation (+20)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79" y="274320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285292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Excessive Idling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Idle time &gt;30 min flags cycle waste (+15)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79" y="379476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59" y="390448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Recent Safety Events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Unacknowledged breaches within 24h (+20)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79" y="4846320"/>
            <a:ext cx="3977639" cy="8686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59" y="4956048"/>
            <a:ext cx="36118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F5F7"/>
                </a:solidFill>
                <a:latin typeface="Inter"/>
              </a:defRPr>
            </a:pPr>
            <a:r>
              <a:t>Weather &amp; Load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Heavy rainfall + payload over 18t (+15)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691640"/>
            <a:ext cx="2270455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920240"/>
            <a:ext cx="199613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D00"/>
                </a:solidFill>
                <a:latin typeface="Inter"/>
              </a:defRPr>
            </a:pPr>
            <a:r>
              <a:t>SAFETY PIPELINE</a:t>
            </a:r>
          </a:p>
          <a:p>
            <a:pPr>
              <a:spcBef>
                <a:spcPts val="1400"/>
              </a:spcBef>
              <a:defRPr sz="1100" b="1">
                <a:solidFill>
                  <a:srgbClr val="F5F5F7"/>
                </a:solidFill>
                <a:latin typeface="Inter"/>
              </a:defRPr>
            </a:pPr>
            <a:r>
              <a:t>INPUT SIGNALS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CAN-bus + Radar + Weather</a:t>
            </a:r>
          </a:p>
          <a:p>
            <a:pPr>
              <a:spcBef>
                <a:spcPts val="1400"/>
              </a:spcBef>
              <a:defRPr sz="1100" b="1">
                <a:solidFill>
                  <a:srgbClr val="F5F5F7"/>
                </a:solidFill>
                <a:latin typeface="Inter"/>
              </a:defRPr>
            </a:pPr>
            <a:r>
              <a:t>RULE EVALUATION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8 Transparent Rules</a:t>
            </a:r>
          </a:p>
          <a:p>
            <a:pPr>
              <a:spcBef>
                <a:spcPts val="1400"/>
              </a:spcBef>
              <a:defRPr sz="1100" b="1">
                <a:solidFill>
                  <a:srgbClr val="F5F5F7"/>
                </a:solidFill>
                <a:latin typeface="Inter"/>
              </a:defRPr>
            </a:pPr>
            <a:r>
              <a:t>RISK SCORE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0 – 100 Index</a:t>
            </a:r>
          </a:p>
          <a:p>
            <a:pPr>
              <a:spcBef>
                <a:spcPts val="1400"/>
              </a:spcBef>
              <a:defRPr sz="1100" b="1">
                <a:solidFill>
                  <a:srgbClr val="F5F5F7"/>
                </a:solidFill>
                <a:latin typeface="Inter"/>
              </a:defRPr>
            </a:pPr>
            <a:r>
              <a:t>ACTIONABLE ALERT</a:t>
            </a:r>
          </a:p>
          <a:p>
            <a:pPr>
              <a:defRPr sz="850">
                <a:solidFill>
                  <a:srgbClr val="8C93A0"/>
                </a:solidFill>
                <a:latin typeface="Inter"/>
              </a:defRPr>
            </a:pPr>
            <a:r>
              <a:t>Instant HUD Advisory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07 / TASK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Not just an ETA. An explanation.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30368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68172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D00"/>
                </a:solidFill>
                <a:latin typeface="Inter"/>
              </a:defRPr>
            </a:pPr>
            <a:r>
              <a:t>TASK T001  •  ACTIVE EXECUTION</a:t>
            </a:r>
          </a:p>
          <a:p>
            <a:pPr>
              <a:spcBef>
                <a:spcPts val="400"/>
              </a:spcBef>
              <a:defRPr sz="1800" b="1">
                <a:solidFill>
                  <a:srgbClr val="F5F5F7"/>
                </a:solidFill>
                <a:latin typeface="Inter"/>
              </a:defRPr>
            </a:pPr>
            <a:r>
              <a:t>Earth Excavation &amp; Trenching</a:t>
            </a:r>
          </a:p>
          <a:p>
            <a:pPr>
              <a:spcBef>
                <a:spcPts val="1600"/>
              </a:spcBef>
              <a:defRPr sz="4800" b="1">
                <a:solidFill>
                  <a:srgbClr val="FFCD00"/>
                </a:solidFill>
                <a:latin typeface="Inter"/>
              </a:defRPr>
            </a:pPr>
            <a:r>
              <a:t>54 min</a:t>
            </a:r>
          </a:p>
          <a:p>
            <a:pPr>
              <a:defRPr sz="950" b="1">
                <a:solidFill>
                  <a:srgbClr val="8C93A0"/>
                </a:solidFill>
                <a:latin typeface="Inter"/>
              </a:defRPr>
            </a:pPr>
            <a:r>
              <a:t>PROJECTED COMPLETION ETA</a:t>
            </a:r>
          </a:p>
          <a:p>
            <a:pPr>
              <a:spcBef>
                <a:spcPts val="1200"/>
              </a:spcBef>
              <a:defRPr sz="1200" b="1">
                <a:solidFill>
                  <a:srgbClr val="F5F5F7"/>
                </a:solidFill>
                <a:latin typeface="Inter"/>
              </a:defRPr>
            </a:pPr>
            <a:r>
              <a:t>90% Confidence Interval:  48 – 61 minutes</a:t>
            </a:r>
          </a:p>
          <a:p>
            <a:pPr>
              <a:spcBef>
                <a:spcPts val="800"/>
              </a:spcBef>
              <a:defRPr sz="950">
                <a:solidFill>
                  <a:srgbClr val="8C93A0"/>
                </a:solidFill>
                <a:latin typeface="Inter"/>
              </a:defRPr>
            </a:pPr>
            <a:r>
              <a:t>Model: Gradient Boosting Regressor  (R² = 0.964, MAE = 4.13 min)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9807" y="1691640"/>
            <a:ext cx="5230368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4127" y="1920240"/>
            <a:ext cx="468172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D00"/>
                </a:solidFill>
                <a:latin typeface="Inter"/>
              </a:defRPr>
            </a:pPr>
            <a:r>
              <a:t>EXPLAINABLE ML CONTRIBUTIONS</a:t>
            </a:r>
          </a:p>
          <a:p>
            <a:pPr>
              <a:spcBef>
                <a:spcPts val="600"/>
              </a:spcBef>
              <a:defRPr sz="1500" b="1">
                <a:solidFill>
                  <a:srgbClr val="F5F5F7"/>
                </a:solidFill>
                <a:latin typeface="Inter"/>
              </a:defRPr>
            </a:pPr>
            <a:r>
              <a:t>Why is this task predicted at 54 minutes?</a:t>
            </a:r>
          </a:p>
          <a:p>
            <a:pPr>
              <a:spcBef>
                <a:spcPts val="1000"/>
              </a:spcBef>
              <a:defRPr sz="1100" b="1">
                <a:solidFill>
                  <a:srgbClr val="F5F5F7"/>
                </a:solidFill>
                <a:latin typeface="Inter"/>
              </a:defRPr>
            </a:pPr>
            <a:r>
              <a:t>Base Task Duration  →  53.0 min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Standard Earth Excavation baseline</a:t>
            </a:r>
          </a:p>
          <a:p>
            <a:pPr>
              <a:spcBef>
                <a:spcPts val="1000"/>
              </a:spcBef>
              <a:defRPr sz="1100" b="1">
                <a:solidFill>
                  <a:srgbClr val="EF4444"/>
                </a:solidFill>
                <a:latin typeface="Inter"/>
              </a:defRPr>
            </a:pPr>
            <a:r>
              <a:t>Wet Ground Conditions  →  +7.5 min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Soil friction &amp; reduced traction in rain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Inter"/>
              </a:defRPr>
            </a:pPr>
            <a:r>
              <a:t>Operator Experience (Expert)  →  -6.5 min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Marcus Vance historical efficiency bonus</a:t>
            </a:r>
          </a:p>
          <a:p>
            <a:pPr>
              <a:spcBef>
                <a:spcPts val="1000"/>
              </a:spcBef>
              <a:defRPr sz="1100" b="1">
                <a:solidFill>
                  <a:srgbClr val="8C93A0"/>
                </a:solidFill>
                <a:latin typeface="Inter"/>
              </a:defRPr>
            </a:pPr>
            <a:r>
              <a:t>Machine Age Factor  →  +0.0 min</a:t>
            </a:r>
          </a:p>
          <a:p>
            <a:pPr>
              <a:defRPr sz="900">
                <a:solidFill>
                  <a:srgbClr val="8C93A0"/>
                </a:solidFill>
                <a:latin typeface="Inter"/>
              </a:defRPr>
            </a:pPr>
            <a:r>
              <a:t>CAT 336 in optimal maintenance bracket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08 / MECHANICAL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Detect unusual machine behavior early.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621792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56692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D00"/>
                </a:solidFill>
                <a:latin typeface="Inter"/>
              </a:defRPr>
            </a:pPr>
            <a:r>
              <a:t>LIVE TELEMETRY STREAMS</a:t>
            </a:r>
          </a:p>
          <a:p>
            <a:pPr>
              <a:spcBef>
                <a:spcPts val="800"/>
              </a:spcBef>
              <a:defRPr sz="1000">
                <a:solidFill>
                  <a:srgbClr val="F5F5F7"/>
                </a:solidFill>
                <a:latin typeface="Inter"/>
              </a:defRPr>
            </a:pPr>
            <a:r>
              <a:t>•  Engine Temperature: 91.2 °C  —  Nominal range (85 – 95 °C)</a:t>
            </a:r>
          </a:p>
          <a:p>
            <a:pPr>
              <a:spcBef>
                <a:spcPts val="800"/>
              </a:spcBef>
              <a:defRPr sz="1000">
                <a:solidFill>
                  <a:srgbClr val="F5F5F7"/>
                </a:solidFill>
                <a:latin typeface="Inter"/>
              </a:defRPr>
            </a:pPr>
            <a:r>
              <a:t>•  Engine Oil Pressure: 42.1 psi  —  Nominal range (40 – 50 psi)</a:t>
            </a:r>
          </a:p>
          <a:p>
            <a:pPr>
              <a:spcBef>
                <a:spcPts val="800"/>
              </a:spcBef>
              <a:defRPr sz="1000">
                <a:solidFill>
                  <a:srgbClr val="F5F5F7"/>
                </a:solidFill>
                <a:latin typeface="Inter"/>
              </a:defRPr>
            </a:pPr>
            <a:r>
              <a:t>•  Hydraulic Pump Pressure: 285 bar  —  Nominal range (250 – 320 bar)</a:t>
            </a:r>
          </a:p>
          <a:p>
            <a:pPr>
              <a:spcBef>
                <a:spcPts val="800"/>
              </a:spcBef>
              <a:defRPr sz="1000">
                <a:solidFill>
                  <a:srgbClr val="F5F5F7"/>
                </a:solidFill>
                <a:latin typeface="Inter"/>
              </a:defRPr>
            </a:pPr>
            <a:r>
              <a:t>•  Engine RPM: 1,850 RPM  —  Full operational load cycle</a:t>
            </a:r>
          </a:p>
          <a:p>
            <a:pPr>
              <a:spcBef>
                <a:spcPts val="800"/>
              </a:spcBef>
              <a:defRPr sz="1000">
                <a:solidFill>
                  <a:srgbClr val="EF4444"/>
                </a:solidFill>
                <a:latin typeface="Inter"/>
              </a:defRPr>
            </a:pPr>
            <a:r>
              <a:t>•  Vibration Baseline: 2.35 mm/s  —  CRITICAL: +32% above 1.75 baseline</a:t>
            </a:r>
          </a:p>
          <a:p>
            <a:pPr>
              <a:spcBef>
                <a:spcPts val="800"/>
              </a:spcBef>
              <a:defRPr sz="1000">
                <a:solidFill>
                  <a:srgbClr val="F5F5F7"/>
                </a:solidFill>
                <a:latin typeface="Inter"/>
              </a:defRPr>
            </a:pPr>
            <a:r>
              <a:t>•  Excessive Idling: 41.0 min  —  WARNING: 41 min above shift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691640"/>
            <a:ext cx="4236415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920240"/>
            <a:ext cx="368777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ANOMALY DETECTED</a:t>
            </a:r>
          </a:p>
          <a:p>
            <a:pPr>
              <a:spcBef>
                <a:spcPts val="400"/>
              </a:spcBef>
              <a:defRPr sz="1800" b="1">
                <a:solidFill>
                  <a:srgbClr val="F5F5F7"/>
                </a:solidFill>
                <a:latin typeface="Inter"/>
              </a:defRPr>
            </a:pPr>
            <a:r>
              <a:t>Vibration &amp; Idle Spike</a:t>
            </a:r>
          </a:p>
          <a:p>
            <a:pPr>
              <a:spcBef>
                <a:spcPts val="1200"/>
              </a:spcBef>
              <a:defRPr sz="1600" b="1">
                <a:solidFill>
                  <a:srgbClr val="EF4444"/>
                </a:solidFill>
                <a:latin typeface="Inter"/>
              </a:defRPr>
            </a:pPr>
            <a:r>
              <a:t>+32% Vibration</a:t>
            </a:r>
            <a:br/>
            <a:r>
              <a:t>41 min Excessive Idle</a:t>
            </a:r>
          </a:p>
          <a:p>
            <a:pPr>
              <a:spcBef>
                <a:spcPts val="1400"/>
              </a:spcBef>
              <a:defRPr sz="950" b="1">
                <a:solidFill>
                  <a:srgbClr val="FFCD00"/>
                </a:solidFill>
                <a:latin typeface="Inter"/>
              </a:defRPr>
            </a:pPr>
            <a:r>
              <a:t>THE PIPELINE IN ACTION:</a:t>
            </a:r>
          </a:p>
          <a:p>
            <a:pPr>
              <a:spcBef>
                <a:spcPts val="600"/>
              </a:spcBef>
              <a:defRPr sz="1100">
                <a:solidFill>
                  <a:srgbClr val="F5F5F7"/>
                </a:solidFill>
                <a:latin typeface="Inter"/>
              </a:defRPr>
            </a:pPr>
            <a:r>
              <a:t>Detection → Isolation Forest flag</a:t>
            </a:r>
            <a:br/>
            <a:r>
              <a:t>Explanation → Vibration + Idle factors</a:t>
            </a:r>
            <a:br/>
            <a:r>
              <a:t>Recommendation → Hydraulic inspection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09 / IN-CAB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Ask the machine. Get evidence, not guesses.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713232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65836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CD00"/>
                </a:solidFill>
                <a:latin typeface="Inter"/>
              </a:defRPr>
            </a:pPr>
            <a:r>
              <a:t>OPERATOR QUERY:</a:t>
            </a:r>
          </a:p>
          <a:p>
            <a:pPr>
              <a:spcBef>
                <a:spcPts val="400"/>
              </a:spcBef>
              <a:defRPr sz="1500" b="1">
                <a:solidFill>
                  <a:srgbClr val="F5F5F7"/>
                </a:solidFill>
                <a:latin typeface="Inter"/>
              </a:defRPr>
            </a:pPr>
            <a:r>
              <a:t>"Why is EXC001 showing a warning?"</a:t>
            </a:r>
          </a:p>
          <a:p>
            <a:pPr>
              <a:spcBef>
                <a:spcPts val="1600"/>
              </a:spcBef>
              <a:defRPr sz="950" b="1">
                <a:solidFill>
                  <a:srgbClr val="FFCD00"/>
                </a:solidFill>
                <a:latin typeface="Inter"/>
              </a:defRPr>
            </a:pPr>
            <a:r>
              <a:t>GROUND TRUTH EVIDENCE:</a:t>
            </a:r>
          </a:p>
          <a:p>
            <a:pPr>
              <a:spcBef>
                <a:spcPts val="600"/>
              </a:spcBef>
              <a:defRPr sz="1050">
                <a:solidFill>
                  <a:srgbClr val="F5F5F7"/>
                </a:solidFill>
                <a:latin typeface="Inter"/>
              </a:defRPr>
            </a:pPr>
            <a:r>
              <a:t>• Vibration is 32% above machine baseline (2.35 mm/s vs 1.75 mm/s)</a:t>
            </a:r>
            <a:br/>
            <a:r>
              <a:t>• Ground worker detected at 2.1 meters inside the exclusion zone</a:t>
            </a:r>
            <a:br/>
            <a:r>
              <a:t>• Recommended Next Step: Pause swing, inspect hydraulic mount, alert supervisor</a:t>
            </a:r>
            <a:br/>
            <a:r>
              <a:t>• Grounded Citation: CAT 336 Heavy Duty Excavator Operations Guide, Section 4.2</a:t>
            </a:r>
          </a:p>
          <a:p>
            <a:pPr>
              <a:spcBef>
                <a:spcPts val="1600"/>
              </a:spcBef>
              <a:defRPr sz="850">
                <a:solidFill>
                  <a:srgbClr val="8C93A0"/>
                </a:solidFill>
                <a:latin typeface="Inter"/>
              </a:defRPr>
            </a:pPr>
            <a:r>
              <a:t>Advisory assistance only — does not control machine functions.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91640"/>
            <a:ext cx="3322015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920240"/>
            <a:ext cx="286481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OFFLINE-READY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Inter"/>
              </a:defRPr>
            </a:pPr>
            <a:r>
              <a:t>Zero Cloud Dependency</a:t>
            </a:r>
          </a:p>
          <a:p>
            <a:pPr>
              <a:spcBef>
                <a:spcPts val="12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Fully operational on remote job sites without internet connectivity</a:t>
            </a:r>
            <a:br/>
            <a:r>
              <a:t>• Rule-grounded offline fallback</a:t>
            </a:r>
            <a:br/>
            <a:r>
              <a:t>• Direct access to machine manuals</a:t>
            </a:r>
            <a:br/>
            <a:r>
              <a:t>• No paid cloud API fees required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10 / 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One shift. One operator. One intelligent cockpit.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1. LOGIN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Marcus Vance logs into EXC001 (CAT 336)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9233" y="169164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2113" y="182880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2. DASHBOARD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92% Health, 1,850 RPM live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6947" y="169164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9827" y="182880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3. TASK ETA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Task T001 ETA 54 min (48–61 min band)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4660" y="169164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7540" y="182880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4. HAZARD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Worker C at 2.1m triggers Critical 88/100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5. INCIDENT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INC001 automatically logged with GPS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9233" y="379476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2113" y="393192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6. ASSISTANT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Explains vibration &amp; worker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6947" y="379476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9827" y="393192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7. TRAINING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3-question Proximity quiz 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4660" y="3794760"/>
            <a:ext cx="2514600" cy="1874519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7540" y="3931920"/>
            <a:ext cx="214884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8. SUPERVISOR</a:t>
            </a:r>
          </a:p>
          <a:p>
            <a:pPr>
              <a:spcBef>
                <a:spcPts val="600"/>
              </a:spcBef>
              <a:defRPr sz="950">
                <a:solidFill>
                  <a:srgbClr val="F5F5F7"/>
                </a:solidFill>
                <a:latin typeface="Inter"/>
              </a:defRPr>
            </a:pPr>
            <a:r>
              <a:t>Fleet view &amp; PDF shift compliance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11 / DUAL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One platform. Two perspectives.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30368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68172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D00"/>
                </a:solidFill>
                <a:latin typeface="Inter"/>
              </a:defRPr>
            </a:pPr>
            <a:r>
              <a:t>IN-CAB COCKPIT VIEW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Inter"/>
              </a:defRPr>
            </a:pPr>
            <a:r>
              <a:t>OPERATOR: MARCUS VANCE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Live Machine Health (92% composite indicator)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360° Safety Radar with worker exclusion tracking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Explainable Task ETA with weather &amp; skill contributions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Conversational In-Cab Assistant for ground truth answers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Interactive Training Hub with instant quiz certification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9807" y="1691640"/>
            <a:ext cx="5230368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4127" y="1920240"/>
            <a:ext cx="468172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CD00"/>
                </a:solidFill>
                <a:latin typeface="Inter"/>
              </a:defRPr>
            </a:pPr>
            <a:r>
              <a:t>FLEET SUPERVISOR PORTAL</a:t>
            </a:r>
          </a:p>
          <a:p>
            <a:pPr>
              <a:spcBef>
                <a:spcPts val="400"/>
              </a:spcBef>
              <a:defRPr sz="1600" b="1">
                <a:solidFill>
                  <a:srgbClr val="F5F5F7"/>
                </a:solidFill>
                <a:latin typeface="Inter"/>
              </a:defRPr>
            </a:pPr>
            <a:r>
              <a:t>SITE SUPERVISOR / FLEET LEAD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Fleet-Wide Machine Health &amp; Utilization Overview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Site Anomaly Distribution &amp; Heatmaps across assets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Automated Incident Sign-Off &amp; Resolution Tracking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Official PDF Compliance Shift Reports for OSHA audits</a:t>
            </a:r>
          </a:p>
          <a:p>
            <a:pPr>
              <a:spcBef>
                <a:spcPts val="8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•  Operator Curriculum Progress &amp; Safety Certification records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12 / MEASURABLE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Designed for measurable operational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CD00"/>
                </a:solidFill>
                <a:latin typeface="Inter"/>
              </a:defRPr>
            </a:pPr>
            <a:r>
              <a:t>ZERO</a:t>
            </a:r>
          </a:p>
          <a:p>
            <a:pPr>
              <a:spcBef>
                <a:spcPts val="12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Proximity Struck-By Fatalities</a:t>
            </a:r>
          </a:p>
          <a:p>
            <a:pPr>
              <a:spcBef>
                <a:spcPts val="10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Proactive 360° exclusion radar alerts operators instantly before personnel breach swing hazard zones.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91640"/>
            <a:ext cx="333756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0016" y="201168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CD00"/>
                </a:solidFill>
                <a:latin typeface="Inter"/>
              </a:defRPr>
            </a:pPr>
            <a:r>
              <a:t>12%</a:t>
            </a:r>
          </a:p>
          <a:p>
            <a:pPr>
              <a:spcBef>
                <a:spcPts val="12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Reduction in Unnecessary Fuel Burn</a:t>
            </a:r>
          </a:p>
          <a:p>
            <a:pPr>
              <a:spcBef>
                <a:spcPts val="10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Anti-idling recommendations and automated cycle optimization prevent wasted fuel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91640"/>
            <a:ext cx="333756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2011680"/>
            <a:ext cx="2788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CD00"/>
                </a:solidFill>
                <a:latin typeface="Inter"/>
              </a:defRPr>
            </a:pPr>
            <a:r>
              <a:t>↓</a:t>
            </a:r>
          </a:p>
          <a:p>
            <a:pPr>
              <a:spcBef>
                <a:spcPts val="1200"/>
              </a:spcBef>
              <a:defRPr sz="1400" b="1">
                <a:solidFill>
                  <a:srgbClr val="F5F5F7"/>
                </a:solidFill>
                <a:latin typeface="Inter"/>
              </a:defRPr>
            </a:pPr>
            <a:r>
              <a:t>Unscheduled Machine Downtime</a:t>
            </a:r>
          </a:p>
          <a:p>
            <a:pPr>
              <a:spcBef>
                <a:spcPts val="1000"/>
              </a:spcBef>
              <a:defRPr sz="1050">
                <a:solidFill>
                  <a:srgbClr val="8C93A0"/>
                </a:solidFill>
                <a:latin typeface="Inter"/>
              </a:defRPr>
            </a:pPr>
            <a:r>
              <a:t>Early mechanical vibration and thermal anomaly diagnostics detect failure signatures shifts in advance.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365760" cy="36576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9260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D00"/>
                </a:solidFill>
                <a:latin typeface="Inter"/>
              </a:defRPr>
            </a:pPr>
            <a:r>
              <a:t>13 /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06C"/>
                </a:solidFill>
                <a:latin typeface="Inter"/>
              </a:defRPr>
            </a:pPr>
            <a:r>
              <a:t>CATERPILLAR HACKATHON PITCH  •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5F7"/>
                </a:solidFill>
                <a:latin typeface="Inter"/>
              </a:defRPr>
            </a:pPr>
            <a:r>
              <a:t>Built for today's prototype. Ready for tomorrow's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1460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057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TODAY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OperatorIQ Prototype</a:t>
            </a:r>
          </a:p>
          <a:p>
            <a:pPr>
              <a:spcBef>
                <a:spcPts val="10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Full-stack simulation cockpit, dual DB, 8-rule safety engine, Gradient Boosting ETA, offline assistant.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9233" y="1691640"/>
            <a:ext cx="251460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7833" y="2011680"/>
            <a:ext cx="2057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NEXT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CAT Product Link™ Integration</a:t>
            </a:r>
          </a:p>
          <a:p>
            <a:pPr>
              <a:spcBef>
                <a:spcPts val="10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Direct integration with Caterpillar OEM telematics hardware and standard ISO 15143-3 fleet feeds.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6947" y="1691640"/>
            <a:ext cx="251460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5547" y="2011680"/>
            <a:ext cx="2057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EDGE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On-Machine TPU Inference</a:t>
            </a:r>
          </a:p>
          <a:p>
            <a:pPr>
              <a:spcBef>
                <a:spcPts val="10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Deploy ML regressor and unsupervised anomaly pipeline to in-cab edge hardware for microsecond latency.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44660" y="1691640"/>
            <a:ext cx="2514600" cy="425196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C31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3260" y="2011680"/>
            <a:ext cx="2057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CD00"/>
                </a:solidFill>
                <a:latin typeface="Inter"/>
              </a:defRPr>
            </a:pPr>
            <a:r>
              <a:t>VISION</a:t>
            </a:r>
          </a:p>
          <a:p>
            <a:pPr>
              <a:spcBef>
                <a:spcPts val="800"/>
              </a:spcBef>
              <a:defRPr sz="1300" b="1">
                <a:solidFill>
                  <a:srgbClr val="F5F5F7"/>
                </a:solidFill>
                <a:latin typeface="Inter"/>
              </a:defRPr>
            </a:pPr>
            <a:r>
              <a:t>Stereo Computer Vision</a:t>
            </a:r>
          </a:p>
          <a:p>
            <a:pPr>
              <a:spcBef>
                <a:spcPts val="1000"/>
              </a:spcBef>
              <a:defRPr sz="1000">
                <a:solidFill>
                  <a:srgbClr val="8C93A0"/>
                </a:solidFill>
                <a:latin typeface="Inter"/>
              </a:defRPr>
            </a:pPr>
            <a:r>
              <a:t>Integrate depth cameras and 3D LiDAR for automated ground worker bounding-box distance extraction.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solidFill>
              <a:srgbClr val="0F11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57200" cy="54864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F5F7"/>
                </a:solidFill>
                <a:latin typeface="Inter"/>
              </a:defRPr>
            </a:pPr>
            <a:r>
              <a:t>CAT OperatorIQ</a:t>
            </a:r>
          </a:p>
          <a:p>
            <a:pPr>
              <a:spcBef>
                <a:spcPts val="1400"/>
              </a:spcBef>
              <a:defRPr sz="2000" b="1">
                <a:solidFill>
                  <a:srgbClr val="FFCD00"/>
                </a:solidFill>
                <a:latin typeface="Inter"/>
              </a:defRPr>
            </a:pPr>
            <a:r>
              <a:t>Safer machines.  Smarter decisions.  Stronger operators.</a:t>
            </a:r>
          </a:p>
          <a:p>
            <a:pPr>
              <a:spcBef>
                <a:spcPts val="2400"/>
              </a:spcBef>
              <a:defRPr sz="3200" b="1">
                <a:solidFill>
                  <a:srgbClr val="F5F5F7"/>
                </a:solidFill>
                <a:latin typeface="Inter"/>
              </a:defRPr>
            </a:pPr>
            <a:r>
              <a:t>Thank you.</a:t>
            </a:r>
          </a:p>
          <a:p>
            <a:pPr>
              <a:spcBef>
                <a:spcPts val="800"/>
              </a:spcBef>
              <a:defRPr sz="1300">
                <a:solidFill>
                  <a:srgbClr val="8C93A0"/>
                </a:solidFill>
                <a:latin typeface="Inter"/>
              </a:defRPr>
            </a:pPr>
            <a:r>
              <a:t>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